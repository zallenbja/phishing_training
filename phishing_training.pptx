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457200"/>
            <a:ext cx="4114800" cy="4114800"/>
          </a:xfrm>
          <a:prstGeom prst="ellipse">
            <a:avLst/>
          </a:prstGeom>
          <a:solidFill>
            <a:srgbClr val="243D5E">
              <a:alpha val="40000"/>
            </a:srgbClr>
          </a:solidFill>
          <a:ln w="12700">
            <a:solidFill>
              <a:srgbClr val="243D5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822960"/>
            <a:ext cx="2926080" cy="2926080"/>
          </a:xfrm>
          <a:prstGeom prst="ellipse">
            <a:avLst/>
          </a:prstGeom>
          <a:solidFill>
            <a:srgbClr val="2EC4B6">
              <a:alpha val="15000"/>
            </a:srgbClr>
          </a:solidFill>
          <a:ln w="12700">
            <a:solidFill>
              <a:srgbClr val="2EC4B6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EC4B6"/>
                </a:solidFill>
              </a:rPr>
              <a:t>SECURITY AWARENESS TRAINING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0F4F8"/>
                </a:solidFill>
              </a:rPr>
              <a:t>Don't Take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0F4F8"/>
                </a:solidFill>
              </a:rPr>
              <a:t>the Bait.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BDD0"/>
                </a:solidFill>
              </a:rPr>
              <a:t>Phishing Awareness Training for Bob Johnson Auto Group employees. Complete all 5 modules and pass the final quiz to finish.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069080"/>
            <a:ext cx="1463040" cy="59436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0873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251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BDD0"/>
                </a:solidFill>
              </a:rPr>
              <a:t>Spot Phishing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148840" y="4069080"/>
            <a:ext cx="1463040" cy="59436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48840" y="40873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48840" y="43251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BDD0"/>
                </a:solidFill>
              </a:rPr>
              <a:t>Safe Browsing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840480" y="4069080"/>
            <a:ext cx="1463040" cy="59436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40873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43251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BDD0"/>
                </a:solidFill>
              </a:rPr>
              <a:t>Real vs Fake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532120" y="4069080"/>
            <a:ext cx="1463040" cy="59436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32120" y="40873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32120" y="43251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BDD0"/>
                </a:solidFill>
              </a:rPr>
              <a:t>If You Click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223760" y="4069080"/>
            <a:ext cx="1463040" cy="59436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40873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23760" y="432511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BDD0"/>
                </a:solidFill>
              </a:rPr>
              <a:t>Incident Response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Bob Johnson Auto Group — Phishing Awareness Training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03604" cy="256032"/>
          </a:xfrm>
          <a:prstGeom prst="roundRect">
            <a:avLst>
              <a:gd name="adj" fmla="val 50000"/>
            </a:avLst>
          </a:prstGeom>
          <a:solidFill>
            <a:srgbClr val="243D5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03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EC4B6"/>
                </a:solidFill>
              </a:rPr>
              <a:t>MODULE 1 OF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8"/>
                </a:solidFill>
              </a:rPr>
              <a:t>How to Spot a Phishing Email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DD0"/>
                </a:solidFill>
              </a:rPr>
              <a:t>Attackers leave clues. Here are the most common red flags.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676656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54864" cy="676656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E8533A">
              <a:alpha val="20000"/>
            </a:srgbClr>
          </a:solidFill>
          <a:ln w="12700">
            <a:solidFill>
              <a:srgbClr val="E8533A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49047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490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Mismatched Sender Address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172821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The display name says "Microsoft" but the actual email is from a random domain. Always expand and check the full address.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8229600" cy="676656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94560"/>
            <a:ext cx="54864" cy="676656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E8533A">
              <a:alpha val="20000"/>
            </a:srgbClr>
          </a:solidFill>
          <a:ln w="12700">
            <a:solidFill>
              <a:srgbClr val="E8533A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26771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267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Urgency or Threats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250545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"Your account will be suspended in 24 hours." Attackers manufacture time pressure to override your judgment.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8229600" cy="676656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71800"/>
            <a:ext cx="54864" cy="676656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E8533A">
              <a:alpha val="20000"/>
            </a:srgbClr>
          </a:solidFill>
          <a:ln w="12700">
            <a:solidFill>
              <a:srgbClr val="E8533A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04495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044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Requests for Credentials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328269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No legitimate organization — including IT — will ever ask for your password, SSN, or banking info via email.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229600" cy="676656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749040"/>
            <a:ext cx="54864" cy="67665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840480"/>
            <a:ext cx="457200" cy="457200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82219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Unexpected Attachments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34440" y="405993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Invoices, "shared documents," ZIP files from unknown senders — common malware delivery mechanisms.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Bob Johnson Auto Group — Phishing Awareness Training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446020" cy="256032"/>
          </a:xfrm>
          <a:prstGeom prst="roundRect">
            <a:avLst>
              <a:gd name="adj" fmla="val 50000"/>
            </a:avLst>
          </a:prstGeom>
          <a:solidFill>
            <a:srgbClr val="243D5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4460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EC4B6"/>
                </a:solidFill>
              </a:rPr>
              <a:t>MODULE 1 OF 5 — CONTINUED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8"/>
                </a:solidFill>
              </a:rPr>
              <a:t>More Red Flags to Watch For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676656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67665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17043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170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Generic Greetings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14081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"Dear Customer" or "Dear Employee" instead of your actual name can indicate a mass phishing campaign.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676656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920240"/>
            <a:ext cx="54864" cy="67665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993392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1993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Unusual Requests from Known Contacts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23113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Gift cards, wire transfers, urgent credential resets from coworkers? Call them directly to verify before acting.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0D3320"/>
          </a:solidFill>
          <a:ln w="9525">
            <a:solidFill>
              <a:srgbClr val="2EC4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80360"/>
            <a:ext cx="54864" cy="731520"/>
          </a:xfrm>
          <a:prstGeom prst="rect">
            <a:avLst/>
          </a:prstGeom>
          <a:solidFill>
            <a:srgbClr val="2EC45A"/>
          </a:solidFill>
          <a:ln w="12700">
            <a:solidFill>
              <a:srgbClr val="2EC4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2926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5A"/>
                </a:solidFill>
              </a:rPr>
              <a:t>✓  When in doubt, don't click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D0"/>
                </a:solidFill>
              </a:rPr>
              <a:t>Forward to IT and let them investigate. It takes 30 seconds and could protect the entire organization.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Bob Johnson Auto Group — Phishing Awareness Training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03604" cy="256032"/>
          </a:xfrm>
          <a:prstGeom prst="roundRect">
            <a:avLst>
              <a:gd name="adj" fmla="val 50000"/>
            </a:avLst>
          </a:prstGeom>
          <a:solidFill>
            <a:srgbClr val="243D5E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03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B9BD5"/>
                </a:solidFill>
              </a:rPr>
              <a:t>MODULE 2 OF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8"/>
                </a:solidFill>
              </a:rPr>
              <a:t>Safe Browsing &amp; Link Inspection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DD0"/>
                </a:solidFill>
              </a:rPr>
              <a:t>The real domain is always the segment immediately before the first single slash.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868680"/>
          </a:xfrm>
          <a:prstGeom prst="rect">
            <a:avLst/>
          </a:prstGeom>
          <a:solidFill>
            <a:srgbClr val="151C2B"/>
          </a:solidFill>
          <a:ln w="9525">
            <a:solidFill>
              <a:srgbClr val="E853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48132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D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</a:t>
            </a:r>
            <a:pPr indent="0" marL="0">
              <a:buNone/>
            </a:pPr>
            <a:r>
              <a:rPr lang="en-US" sz="1300" b="1" dirty="0">
                <a:solidFill>
                  <a:srgbClr val="E85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microsoft.com</a:t>
            </a:r>
            <a:pPr indent="0" marL="0">
              <a:buNone/>
            </a:pPr>
            <a:r>
              <a:rPr lang="en-US" sz="1300" dirty="0">
                <a:solidFill>
                  <a:srgbClr val="A8BD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.login.</a:t>
            </a:r>
            <a:pPr indent="0" marL="0">
              <a:buNone/>
            </a:pPr>
            <a:r>
              <a:rPr lang="en-US" sz="1300" b="1" dirty="0">
                <a:solidFill>
                  <a:srgbClr val="E85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verify-now.ru</a:t>
            </a:r>
            <a:pPr indent="0" marL="0">
              <a:buNone/>
            </a:pPr>
            <a:r>
              <a:rPr lang="en-US" sz="1300" dirty="0">
                <a:solidFill>
                  <a:srgbClr val="A8BD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/account/reset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8013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533A"/>
                </a:solidFill>
              </a:rPr>
              <a:t>⚑  Real domain: verify-now.ru — "microsoft.com" is just a subdomain trick to deceive you.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8229600" cy="868680"/>
          </a:xfrm>
          <a:prstGeom prst="rect">
            <a:avLst/>
          </a:prstGeom>
          <a:solidFill>
            <a:srgbClr val="0D2218"/>
          </a:solidFill>
          <a:ln w="9525">
            <a:solidFill>
              <a:srgbClr val="2EC4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87168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D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</a:t>
            </a:r>
            <a:pPr indent="0" marL="0">
              <a:buNone/>
            </a:pPr>
            <a:r>
              <a:rPr lang="en-US" sz="1300" b="1" dirty="0">
                <a:solidFill>
                  <a:srgbClr val="2EC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microsoft.com</a:t>
            </a:r>
            <a:pPr indent="0" marL="0">
              <a:buNone/>
            </a:pPr>
            <a:r>
              <a:rPr lang="en-US" sz="1300" dirty="0">
                <a:solidFill>
                  <a:srgbClr val="A8BD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/en-us/account/reset?token=abc123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80720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5A"/>
                </a:solidFill>
              </a:rPr>
              <a:t>✓  Real domain: microsoft.com — everything after the slash is just a path on their server.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8229600" cy="77724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9300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0F4F8"/>
                </a:solidFill>
              </a:rPr>
              <a:t>💡  HTTPS does NOT mean safe. Phishing sites use HTTPS too. Always check the domain first.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Bob Johnson Auto Group — Phishing Awareness Training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446020" cy="256032"/>
          </a:xfrm>
          <a:prstGeom prst="roundRect">
            <a:avLst>
              <a:gd name="adj" fmla="val 50000"/>
            </a:avLst>
          </a:prstGeom>
          <a:solidFill>
            <a:srgbClr val="243D5E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4460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B9BD5"/>
                </a:solidFill>
              </a:rPr>
              <a:t>MODULE 2 OF 5 — CONTINUED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8"/>
                </a:solidFill>
              </a:rPr>
              <a:t>Practical Safe Browsing Habits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137160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🖱️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07008" y="12527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Hover Before You Click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1545336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8BDD0"/>
                </a:solidFill>
              </a:rPr>
              <a:t>Hovering shows the real destination in the status bar. Never click without checking.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4023360" cy="137160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96128" y="12527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Navigate Directly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96128" y="1545336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8BDD0"/>
                </a:solidFill>
              </a:rPr>
              <a:t>Type the address into your browser instead of clicking email links. Bypasses fake links entirely.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023360" cy="137160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07008" y="28072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Copy, Don't Click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07008" y="3099816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8BDD0"/>
                </a:solidFill>
              </a:rPr>
              <a:t>Right-click → Copy URL → paste into a text editor to read the real destination first.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2697480"/>
            <a:ext cx="4023360" cy="137160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96128" y="28072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Extra Caution on Mobile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96128" y="3099816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A8BDD0"/>
                </a:solidFill>
              </a:rPr>
              <a:t>Mobile browsers hide full URLs. Long-press links to preview the destination before tapping.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Bob Johnson Auto Group — Phishing Awareness Training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03604" cy="256032"/>
          </a:xfrm>
          <a:prstGeom prst="roundRect">
            <a:avLst>
              <a:gd name="adj" fmla="val 50000"/>
            </a:avLst>
          </a:prstGeom>
          <a:solidFill>
            <a:srgbClr val="243D5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03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EC4B6"/>
                </a:solidFill>
              </a:rPr>
              <a:t>MODULE 3 OF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8"/>
                </a:solidFill>
              </a:rPr>
              <a:t>Real vs. Fake: Phishing Example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2834640"/>
          </a:xfrm>
          <a:prstGeom prst="rect">
            <a:avLst/>
          </a:prstGeom>
          <a:solidFill>
            <a:srgbClr val="151C2B"/>
          </a:solidFill>
          <a:ln w="9525">
            <a:solidFill>
              <a:srgbClr val="3D1A1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8229600" cy="347472"/>
          </a:xfrm>
          <a:prstGeom prst="rect">
            <a:avLst/>
          </a:prstGeom>
          <a:solidFill>
            <a:srgbClr val="1E2635"/>
          </a:solidFill>
          <a:ln w="12700">
            <a:solidFill>
              <a:srgbClr val="3D1A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78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533A"/>
                </a:solidFill>
              </a:rPr>
              <a:t>⚑  PHISHING EXAMPLE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AAB"/>
                </a:solidFill>
              </a:rPr>
              <a:t>From: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61872" y="1463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533A"/>
                </a:solidFill>
              </a:rPr>
              <a:t>IT Support &lt;support@micros0ft-helpdesk.net&gt;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0" y="1463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533A"/>
                </a:solidFill>
              </a:rPr>
              <a:t>⚑ Red flag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94360" y="17190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AAB"/>
                </a:solidFill>
              </a:rPr>
              <a:t>Subject: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61872" y="17190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533A"/>
                </a:solidFill>
              </a:rPr>
              <a:t>⚠️ URGENT: Your account access expires in 2 hours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0" y="17190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533A"/>
                </a:solidFill>
              </a:rPr>
              <a:t>⚑ Red flag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94360" y="197510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8AAB"/>
                </a:solidFill>
              </a:rPr>
              <a:t>To: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61872" y="197510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DD0"/>
                </a:solidFill>
              </a:rPr>
              <a:t>you@bobjohnsonauto.com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249424"/>
            <a:ext cx="8229600" cy="0"/>
          </a:xfrm>
          <a:prstGeom prst="line">
            <a:avLst/>
          </a:prstGeom>
          <a:noFill/>
          <a:ln w="6350">
            <a:solidFill>
              <a:srgbClr val="3D1A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0428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Dear Employee,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4360" y="2514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We detected unusual activity. Your access will be </a:t>
            </a:r>
            <a:pPr indent="0" marL="0">
              <a:buNone/>
            </a:pPr>
            <a:r>
              <a:rPr lang="en-US" sz="950" b="1" dirty="0">
                <a:solidFill>
                  <a:srgbClr val="F0F4F8"/>
                </a:solidFill>
              </a:rPr>
              <a:t>permanently suspended </a:t>
            </a:r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unless you verify credentials immediately.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94360" y="281635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533A"/>
                </a:solidFill>
              </a:rPr>
              <a:t>http://login.micros0ft-helpdesk.net/verify  ⚑ URL mismatch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303580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</a:rPr>
              <a:t>This link expires in 2 hours.  ⚑ Artificial deadline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005072"/>
            <a:ext cx="8229600" cy="502920"/>
          </a:xfrm>
          <a:prstGeom prst="rect">
            <a:avLst/>
          </a:prstGeom>
          <a:solidFill>
            <a:srgbClr val="1A0D09"/>
          </a:solidFill>
          <a:ln w="9525">
            <a:solidFill>
              <a:srgbClr val="E853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005072"/>
            <a:ext cx="54864" cy="50292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0599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4 red flags: spoofed domain (0 instead of o), generic greeting, manufactured urgency, mismatched URL.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Bob Johnson Auto Group — Phishing Awareness Training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446020" cy="256032"/>
          </a:xfrm>
          <a:prstGeom prst="roundRect">
            <a:avLst>
              <a:gd name="adj" fmla="val 50000"/>
            </a:avLst>
          </a:prstGeom>
          <a:solidFill>
            <a:srgbClr val="243D5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4460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EC4B6"/>
                </a:solidFill>
              </a:rPr>
              <a:t>MODULE 3 OF 5 — CONTINUED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8"/>
                </a:solidFill>
              </a:rPr>
              <a:t>Legitimate Email vs. CEO Fraud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2377440"/>
          </a:xfrm>
          <a:prstGeom prst="rect">
            <a:avLst/>
          </a:prstGeom>
          <a:solidFill>
            <a:srgbClr val="0D2218"/>
          </a:solidFill>
          <a:ln w="9525">
            <a:solidFill>
              <a:srgbClr val="2EC4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4023360" cy="292608"/>
          </a:xfrm>
          <a:prstGeom prst="rect">
            <a:avLst/>
          </a:prstGeom>
          <a:solidFill>
            <a:srgbClr val="103020"/>
          </a:solidFill>
          <a:ln w="12700">
            <a:solidFill>
              <a:srgbClr val="2EC4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789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C45A"/>
                </a:solidFill>
              </a:rPr>
              <a:t>✓  LEGITIMATE EMAIL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13898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AAB"/>
                </a:solidFill>
              </a:rPr>
              <a:t>From: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16152" y="13898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C45A"/>
                </a:solidFill>
              </a:rPr>
              <a:t>itservicedesk@bobjohnsonauto.com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160934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BDD0"/>
                </a:solidFill>
              </a:rPr>
              <a:t>Subject: Quarterly password reset — action required by Friday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1865376"/>
            <a:ext cx="4023360" cy="0"/>
          </a:xfrm>
          <a:prstGeom prst="line">
            <a:avLst/>
          </a:prstGeom>
          <a:noFill/>
          <a:ln w="6350">
            <a:solidFill>
              <a:srgbClr val="1A40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202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DD0"/>
                </a:solidFill>
              </a:rPr>
              <a:t>Hi Jane,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DD0"/>
                </a:solidFill>
              </a:rPr>
              <a:t>Please update your password by Friday by navigating directly to portal.bobjohnsonauto.com — do not click links in this email.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DD0"/>
                </a:solidFill>
              </a:rPr>
              <a:t>— IT Service Desk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3246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C45A"/>
                </a:solidFill>
              </a:rPr>
              <a:t>✓ Real domain   ✓ Your name   ✓ Navigate directly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4023360" cy="2377440"/>
          </a:xfrm>
          <a:prstGeom prst="rect">
            <a:avLst/>
          </a:prstGeom>
          <a:solidFill>
            <a:srgbClr val="1A0D09"/>
          </a:solidFill>
          <a:ln w="9525">
            <a:solidFill>
              <a:srgbClr val="E853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51560"/>
            <a:ext cx="4023360" cy="292608"/>
          </a:xfrm>
          <a:prstGeom prst="rect">
            <a:avLst/>
          </a:prstGeom>
          <a:solidFill>
            <a:srgbClr val="2A1008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0789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533A"/>
                </a:solidFill>
              </a:rPr>
              <a:t>⚑  CEO FRAUD (BEC)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00600" y="13898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AAB"/>
                </a:solidFill>
              </a:rPr>
              <a:t>From: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22392" y="13898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8533A"/>
                </a:solidFill>
              </a:rPr>
              <a:t>jsmith@bobjohnson-corp.net  ⚑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00600" y="16093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A261"/>
                </a:solidFill>
              </a:rPr>
              <a:t>Subject: Urgent — confidential task  ⚑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865376"/>
            <a:ext cx="4023360" cy="0"/>
          </a:xfrm>
          <a:prstGeom prst="line">
            <a:avLst/>
          </a:prstGeom>
          <a:noFill/>
          <a:ln w="6350">
            <a:solidFill>
              <a:srgbClr val="3D1A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9202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A8BDD0"/>
                </a:solidFill>
              </a:rPr>
              <a:t>Buy $500 in Google Play gift cards and send me the codes. I'm in a meeting — can't talk. Don't mention this to anyone yet.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00600" y="3246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533A"/>
                </a:solidFill>
              </a:rPr>
              <a:t>⚑ Wrong domain   ⚑ Gift cards   ⚑ Avoids phone   ⚑ Secrecy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8229600" cy="50292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8368" y="366674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D0"/>
                </a:solidFill>
              </a:rPr>
              <a:t>Always verify financial or unusual requests by calling the person directly on a known number — never reply to the email.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Bob Johnson Auto Group — Phishing Awareness Training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03604" cy="256032"/>
          </a:xfrm>
          <a:prstGeom prst="roundRect">
            <a:avLst>
              <a:gd name="adj" fmla="val 50000"/>
            </a:avLst>
          </a:prstGeom>
          <a:solidFill>
            <a:srgbClr val="243D5E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03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4A261"/>
                </a:solidFill>
              </a:rPr>
              <a:t>MODULE 4 OF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4F8"/>
                </a:solidFill>
              </a:rPr>
              <a:t>What to Do If You Clicked or Submitted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DD0"/>
                </a:solidFill>
              </a:rPr>
              <a:t>Don't panic — speed and transparency matter most.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8229600" cy="86868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72768"/>
            <a:ext cx="502920" cy="502920"/>
          </a:xfrm>
          <a:prstGeom prst="ellipse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C2E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07008" y="1481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Stop Immediately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7008" y="175564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Close the tab. Do not submit any more information. Don't try to "undo" anything on the site.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395728"/>
            <a:ext cx="8229600" cy="86868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578608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C2E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07008" y="24871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Change Your Password Right Now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07008" y="276148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Change that password immediately — and anywhere you reuse it. Prioritize your work account first.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401568"/>
            <a:ext cx="8229600" cy="86868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584448"/>
            <a:ext cx="502920" cy="5029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C2E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7008" y="3493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Enable MFA If Not Already Active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07008" y="376732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Multi-factor authentication can block attackers even if they have your password. Contact IT to enable it.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Bob Johnson Auto Group — Phishing Awareness Training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446020" cy="256032"/>
          </a:xfrm>
          <a:prstGeom prst="roundRect">
            <a:avLst>
              <a:gd name="adj" fmla="val 50000"/>
            </a:avLst>
          </a:prstGeom>
          <a:solidFill>
            <a:srgbClr val="243D5E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4460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4A261"/>
                </a:solidFill>
              </a:rPr>
              <a:t>MODULE 4 OF 5 — CONTINUED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8"/>
                </a:solidFill>
              </a:rPr>
              <a:t>Next Steps After a Click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07008"/>
            <a:ext cx="502920" cy="5029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C2E"/>
                </a:solidFill>
              </a:rPr>
              <a:t>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07008" y="112471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Notify IT Immediately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07008" y="139903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Forward the email to it_servicedesk@bobjohnsonauto.com or open a ticket. Tell them what you clicked, what you submitted, and when. No penalty for reporting.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167128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C2E"/>
                </a:solidFill>
              </a:rPr>
              <a:t>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07008" y="208483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Isolate the Device If Instructed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07008" y="235915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IT may ask you to disconnect from the network. Follow their instructions even if it's inconvenient.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27248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C2E"/>
                </a:solidFill>
              </a:rPr>
              <a:t>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07008" y="3044952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Watch for Follow-Up Attacks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07008" y="331927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After a successful phish, attackers often send targeted follow-up emails impersonating IT or your bank. Stay extra vigilant.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0D2B1A"/>
          </a:solidFill>
          <a:ln w="9525">
            <a:solidFill>
              <a:srgbClr val="2EC4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977640"/>
            <a:ext cx="54864" cy="502920"/>
          </a:xfrm>
          <a:prstGeom prst="rect">
            <a:avLst/>
          </a:prstGeom>
          <a:solidFill>
            <a:srgbClr val="2EC45A"/>
          </a:solidFill>
          <a:ln w="12700">
            <a:solidFill>
              <a:srgbClr val="2EC4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0325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Report suspicious emails even if you didn't click — forward to it_servicedesk@bobjohnsonauto.com. Every report counts.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Bob Johnson Auto Group — Phishing Awareness Training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03604" cy="256032"/>
          </a:xfrm>
          <a:prstGeom prst="roundRect">
            <a:avLst>
              <a:gd name="adj" fmla="val 50000"/>
            </a:avLst>
          </a:prstGeom>
          <a:solidFill>
            <a:srgbClr val="243D5E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03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B9BD5"/>
                </a:solidFill>
              </a:rPr>
              <a:t>MODULE 5 OF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8"/>
                </a:solidFill>
              </a:rPr>
              <a:t>Incident Response &amp; Reporting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DD0"/>
                </a:solidFill>
              </a:rPr>
              <a:t>Your role is to report and cooperate — not to investigate or fix.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8229600" cy="694944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81328"/>
            <a:ext cx="475488" cy="475488"/>
          </a:xfrm>
          <a:prstGeom prst="ellipse">
            <a:avLst/>
          </a:prstGeom>
          <a:solidFill>
            <a:srgbClr val="1A3560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4630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46304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Identify &amp; Contain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70432" y="1709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The moment something seems wrong — stop interacting. Your job is to limit exposure.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8229600" cy="694944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304288"/>
            <a:ext cx="475488" cy="475488"/>
          </a:xfrm>
          <a:prstGeom prst="ellipse">
            <a:avLst/>
          </a:prstGeom>
          <a:solidFill>
            <a:srgbClr val="1A3560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286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28600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Report, Don't Remediate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0432" y="25328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Report to IT immediately with full detail: the email, link, time, what you submitted. Let security handle it.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035808"/>
            <a:ext cx="8229600" cy="694944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127248"/>
            <a:ext cx="475488" cy="475488"/>
          </a:xfrm>
          <a:prstGeom prst="ellipse">
            <a:avLst/>
          </a:prstGeom>
          <a:solidFill>
            <a:srgbClr val="1A3560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1089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310896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Preserve Evidence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70432" y="33558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Do not delete the suspicious email before reporting. IT needs it to investigate scope and protect others.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858768"/>
            <a:ext cx="8229600" cy="694944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950208"/>
            <a:ext cx="475488" cy="475488"/>
          </a:xfrm>
          <a:prstGeom prst="ellipse">
            <a:avLst/>
          </a:prstGeom>
          <a:solidFill>
            <a:srgbClr val="1A3560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93192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70432" y="393192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Cooperate with 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70432" y="4178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IT may need access to your machine or ask you to change passwords. Cooperate promptly.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Bob Johnson Auto Group — Phishing Awareness Training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2446020" cy="256032"/>
          </a:xfrm>
          <a:prstGeom prst="roundRect">
            <a:avLst>
              <a:gd name="adj" fmla="val 50000"/>
            </a:avLst>
          </a:prstGeom>
          <a:solidFill>
            <a:srgbClr val="243D5E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24460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5B9BD5"/>
                </a:solidFill>
              </a:rPr>
              <a:t>MODULE 5 OF 5 — CONTINUED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8"/>
                </a:solidFill>
              </a:rPr>
              <a:t>How to Report a Suspicious Email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023360" cy="141732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07008" y="12527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Forward to 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1545336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8BDD0"/>
                </a:solidFill>
              </a:rPr>
              <a:t>Forward the email to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8BDD0"/>
                </a:solidFill>
              </a:rPr>
              <a:t>it_servicedesk@bobjohnsonauto.com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8BDD0"/>
                </a:solidFill>
              </a:rPr>
              <a:t>with details on what you noticed.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1143000"/>
            <a:ext cx="4023360" cy="141732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96128" y="12527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Submit a Ticket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96128" y="1545336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8BDD0"/>
                </a:solidFill>
              </a:rPr>
              <a:t>Open a ticket tagged "Phishing/Security" with the subject, sender, time received, and actions taken.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023360" cy="141732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🔘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07008" y="28529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Use the Report Button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07008" y="3145536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8BDD0"/>
                </a:solidFill>
              </a:rPr>
              <a:t>Your email client has a "Report Phishing" button. It flags the message to IT and your email provider simultaneously.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2743200"/>
            <a:ext cx="4023360" cy="141732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96128" y="28529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4F8"/>
                </a:solidFill>
              </a:rPr>
              <a:t>Tell Your Manager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96128" y="3145536"/>
            <a:ext cx="3108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8BDD0"/>
                </a:solidFill>
              </a:rPr>
              <a:t>Inform your manager so they can follow up with IT and make sure the rest of the team is aware.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407408"/>
            <a:ext cx="8229600" cy="384048"/>
          </a:xfrm>
          <a:prstGeom prst="rect">
            <a:avLst/>
          </a:prstGeom>
          <a:solidFill>
            <a:srgbClr val="1A0D09"/>
          </a:solidFill>
          <a:ln w="9525">
            <a:solidFill>
              <a:srgbClr val="E853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407408"/>
            <a:ext cx="54864" cy="38404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4531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Never forward suspicious emails to coworkers — this can spread the threat. Report directly to IT only.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Bob Johnson Auto Group — Phishing Awareness Training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3840480" cy="3840480"/>
          </a:xfrm>
          <a:prstGeom prst="ellipse">
            <a:avLst/>
          </a:prstGeom>
          <a:solidFill>
            <a:srgbClr val="243D5E">
              <a:alpha val="35000"/>
            </a:srgbClr>
          </a:solidFill>
          <a:ln w="12700">
            <a:solidFill>
              <a:srgbClr val="243D5E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1577340" cy="256032"/>
          </a:xfrm>
          <a:prstGeom prst="roundRect">
            <a:avLst>
              <a:gd name="adj" fmla="val 50000"/>
            </a:avLst>
          </a:prstGeom>
          <a:solidFill>
            <a:srgbClr val="243D5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15773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EC4B6"/>
                </a:solidFill>
              </a:rPr>
              <a:t>KNOWLEDGE CHECK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0F4F8"/>
                </a:solidFill>
              </a:rPr>
              <a:t>Time to Test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0F4F8"/>
                </a:solidFill>
              </a:rPr>
              <a:t>Your Knowledge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8BDD0"/>
                </a:solidFill>
              </a:rPr>
              <a:t>Complete the quiz in your Paycom Learning module.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8BDD0"/>
                </a:solidFill>
              </a:rPr>
              <a:t>You must score 5 out of 5 to pass.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A8BDD0"/>
                </a:solidFill>
              </a:rPr>
              <a:t>You have up to 3 attempts — take your time.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977640"/>
            <a:ext cx="2468880" cy="68580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005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</a:rPr>
              <a:t>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4334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DD0"/>
                </a:solidFill>
              </a:rPr>
              <a:t>Questions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3977640"/>
            <a:ext cx="2468880" cy="68580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4005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</a:rPr>
              <a:t>100%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4334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DD0"/>
                </a:solidFill>
              </a:rPr>
              <a:t>Required to pass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3977640"/>
            <a:ext cx="2468880" cy="68580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40050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C4B6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4334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DD0"/>
                </a:solidFill>
              </a:rPr>
              <a:t>Attempts allowed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Bob Johnson Auto Group — Phishing Awareness Training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403604" cy="256032"/>
          </a:xfrm>
          <a:prstGeom prst="roundRect">
            <a:avLst>
              <a:gd name="adj" fmla="val 50000"/>
            </a:avLst>
          </a:prstGeom>
          <a:solidFill>
            <a:srgbClr val="243D5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4036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EC4B6"/>
                </a:solidFill>
              </a:rPr>
              <a:t>KEY TAKEAWAYS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8"/>
                </a:solidFill>
              </a:rPr>
              <a:t>Remember These Every Day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566928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70432"/>
            <a:ext cx="54864" cy="566928"/>
          </a:xfrm>
          <a:prstGeom prst="rect">
            <a:avLst/>
          </a:prstGeom>
          <a:solidFill>
            <a:srgbClr val="2EC45A"/>
          </a:solidFill>
          <a:ln w="12700">
            <a:solidFill>
              <a:srgbClr val="2EC4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225296"/>
            <a:ext cx="457200" cy="457200"/>
          </a:xfrm>
          <a:prstGeom prst="ellipse">
            <a:avLst/>
          </a:prstGeom>
          <a:solidFill>
            <a:srgbClr val="2EC45A">
              <a:alpha val="20000"/>
            </a:srgbClr>
          </a:solidFill>
          <a:ln w="12700">
            <a:solidFill>
              <a:srgbClr val="2EC45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2070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5A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07008" y="12801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Always verify sender addresses before clicking anything.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856232"/>
            <a:ext cx="8229600" cy="566928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56232"/>
            <a:ext cx="54864" cy="566928"/>
          </a:xfrm>
          <a:prstGeom prst="rect">
            <a:avLst/>
          </a:prstGeom>
          <a:solidFill>
            <a:srgbClr val="2EC45A"/>
          </a:solidFill>
          <a:ln w="12700">
            <a:solidFill>
              <a:srgbClr val="2EC4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1911096"/>
            <a:ext cx="457200" cy="457200"/>
          </a:xfrm>
          <a:prstGeom prst="ellipse">
            <a:avLst/>
          </a:prstGeom>
          <a:solidFill>
            <a:srgbClr val="2EC45A">
              <a:alpha val="20000"/>
            </a:srgbClr>
          </a:solidFill>
          <a:ln w="12700">
            <a:solidFill>
              <a:srgbClr val="2EC45A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18928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5A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07008" y="19659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Hover over links to see the real destination. Navigate directly when in doubt.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42032"/>
            <a:ext cx="8229600" cy="566928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42032"/>
            <a:ext cx="54864" cy="566928"/>
          </a:xfrm>
          <a:prstGeom prst="rect">
            <a:avLst/>
          </a:prstGeom>
          <a:solidFill>
            <a:srgbClr val="2EC45A"/>
          </a:solidFill>
          <a:ln w="12700">
            <a:solidFill>
              <a:srgbClr val="2EC4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" y="2596896"/>
            <a:ext cx="457200" cy="457200"/>
          </a:xfrm>
          <a:prstGeom prst="ellipse">
            <a:avLst/>
          </a:prstGeom>
          <a:solidFill>
            <a:srgbClr val="2EC45A">
              <a:alpha val="20000"/>
            </a:srgbClr>
          </a:solidFill>
          <a:ln w="12700">
            <a:solidFill>
              <a:srgbClr val="2EC45A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25786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5A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07008" y="26517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Never enter credentials on a page you reached through an email link.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227832"/>
            <a:ext cx="8229600" cy="566928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27832"/>
            <a:ext cx="54864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3282696"/>
            <a:ext cx="457200" cy="457200"/>
          </a:xfrm>
          <a:prstGeom prst="ellipse">
            <a:avLst/>
          </a:prstGeom>
          <a:solidFill>
            <a:srgbClr val="2EC4B6">
              <a:alpha val="20000"/>
            </a:srgbClr>
          </a:solidFill>
          <a:ln w="12700">
            <a:solidFill>
              <a:srgbClr val="2EC4B6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32644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07008" y="33375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If you clicked something — change your password immediately and notify IT.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913632"/>
            <a:ext cx="8229600" cy="566928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913632"/>
            <a:ext cx="54864" cy="56692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" y="3968496"/>
            <a:ext cx="457200" cy="457200"/>
          </a:xfrm>
          <a:prstGeom prst="ellipse">
            <a:avLst/>
          </a:prstGeom>
          <a:solidFill>
            <a:srgbClr val="2EC4B6">
              <a:alpha val="20000"/>
            </a:srgbClr>
          </a:solidFill>
          <a:ln w="12700">
            <a:solidFill>
              <a:srgbClr val="2EC4B6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" y="3950208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07008" y="402336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Report anything suspicious to it_servicedesk@bobjohnsonauto.com — even false alarms are welcome.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Bob Johnson Auto Group — Phishing Awareness Training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2286000"/>
            <a:ext cx="3657600" cy="3657600"/>
          </a:xfrm>
          <a:prstGeom prst="ellipse">
            <a:avLst/>
          </a:prstGeom>
          <a:solidFill>
            <a:srgbClr val="243D5E">
              <a:alpha val="35000"/>
            </a:srgbClr>
          </a:solidFill>
          <a:ln w="12700">
            <a:solidFill>
              <a:srgbClr val="243D5E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182880"/>
            <a:ext cx="3200400" cy="3200400"/>
          </a:xfrm>
          <a:prstGeom prst="ellipse">
            <a:avLst/>
          </a:prstGeom>
          <a:solidFill>
            <a:srgbClr val="2EC4B6">
              <a:alpha val="12000"/>
            </a:srgbClr>
          </a:solidFill>
          <a:ln w="12700">
            <a:solidFill>
              <a:srgbClr val="2EC4B6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82296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0F4F8"/>
                </a:solidFill>
              </a:rPr>
              <a:t>Training</a:t>
            </a:r>
            <a:endParaRPr lang="en-US" sz="5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0F4F8"/>
                </a:solidFill>
              </a:rPr>
              <a:t>Complete.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371600" y="28803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BDD0"/>
                </a:solidFill>
              </a:rPr>
              <a:t>You're now better equipped to protect yourself and your colleagues from phishing attacks.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3611880"/>
            <a:ext cx="5486400" cy="685800"/>
          </a:xfrm>
          <a:prstGeom prst="rect">
            <a:avLst/>
          </a:prstGeom>
          <a:solidFill>
            <a:srgbClr val="1A2D45"/>
          </a:solidFill>
          <a:ln w="9525">
            <a:solidFill>
              <a:srgbClr val="2A40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36393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BDD0"/>
                </a:solidFill>
              </a:rPr>
              <a:t>Questions or concerns? Contact: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28800" y="386791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it_servicedesk@bobjohnsonauto.com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AAB"/>
                </a:solidFill>
              </a:rPr>
              <a:t>Bob Johnson Auto Group — IT Security Team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A2D45"/>
          </a:solidFill>
          <a:ln w="12700">
            <a:solidFill>
              <a:srgbClr val="1A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8920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Bob Johnson Auto Group — Phishing Awareness Training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8AAB"/>
                </a:solidFill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PptxGenJS</dc:creator>
  <cp:lastModifiedBy>PptxGenJS</cp:lastModifiedBy>
  <cp:revision>1</cp:revision>
  <dcterms:created xsi:type="dcterms:W3CDTF">2026-03-25T22:30:29Z</dcterms:created>
  <dcterms:modified xsi:type="dcterms:W3CDTF">2026-03-25T22:30:29Z</dcterms:modified>
</cp:coreProperties>
</file>